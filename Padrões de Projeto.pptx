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HK Grotesk" charset="1" panose="00000500000000000000"/>
      <p:regular r:id="rId19"/>
    </p:embeddedFont>
    <p:embeddedFont>
      <p:font typeface="Inter 1" charset="1" panose="020B0502030000000004"/>
      <p:regular r:id="rId20"/>
    </p:embeddedFont>
    <p:embeddedFont>
      <p:font typeface="Inter 1 Bold" charset="1" panose="020B0802030000000004"/>
      <p:regular r:id="rId21"/>
    </p:embeddedFont>
    <p:embeddedFont>
      <p:font typeface="Canva Sans" charset="1" panose="020B0503030501040103"/>
      <p:regular r:id="rId22"/>
    </p:embeddedFont>
    <p:embeddedFont>
      <p:font typeface="Inter 2" charset="1" panose="020005030000000200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78652" y="-477982"/>
            <a:ext cx="3494100" cy="3465368"/>
            <a:chOff x="0" y="0"/>
            <a:chExt cx="920257" cy="9126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0257" cy="912690"/>
            </a:xfrm>
            <a:custGeom>
              <a:avLst/>
              <a:gdLst/>
              <a:ahLst/>
              <a:cxnLst/>
              <a:rect r="r" b="b" t="t" l="l"/>
              <a:pathLst>
                <a:path h="912690" w="920257">
                  <a:moveTo>
                    <a:pt x="33236" y="0"/>
                  </a:moveTo>
                  <a:lnTo>
                    <a:pt x="887021" y="0"/>
                  </a:lnTo>
                  <a:cubicBezTo>
                    <a:pt x="895836" y="0"/>
                    <a:pt x="904289" y="3502"/>
                    <a:pt x="910522" y="9735"/>
                  </a:cubicBezTo>
                  <a:cubicBezTo>
                    <a:pt x="916755" y="15967"/>
                    <a:pt x="920257" y="24421"/>
                    <a:pt x="920257" y="33236"/>
                  </a:cubicBezTo>
                  <a:lnTo>
                    <a:pt x="920257" y="879454"/>
                  </a:lnTo>
                  <a:cubicBezTo>
                    <a:pt x="920257" y="888269"/>
                    <a:pt x="916755" y="896722"/>
                    <a:pt x="910522" y="902955"/>
                  </a:cubicBezTo>
                  <a:cubicBezTo>
                    <a:pt x="904289" y="909188"/>
                    <a:pt x="895836" y="912690"/>
                    <a:pt x="887021" y="912690"/>
                  </a:cubicBezTo>
                  <a:lnTo>
                    <a:pt x="33236" y="912690"/>
                  </a:lnTo>
                  <a:cubicBezTo>
                    <a:pt x="24421" y="912690"/>
                    <a:pt x="15967" y="909188"/>
                    <a:pt x="9735" y="902955"/>
                  </a:cubicBezTo>
                  <a:cubicBezTo>
                    <a:pt x="3502" y="896722"/>
                    <a:pt x="0" y="888269"/>
                    <a:pt x="0" y="879454"/>
                  </a:cubicBezTo>
                  <a:lnTo>
                    <a:pt x="0" y="33236"/>
                  </a:lnTo>
                  <a:cubicBezTo>
                    <a:pt x="0" y="24421"/>
                    <a:pt x="3502" y="15967"/>
                    <a:pt x="9735" y="9735"/>
                  </a:cubicBezTo>
                  <a:cubicBezTo>
                    <a:pt x="15967" y="3502"/>
                    <a:pt x="24421" y="0"/>
                    <a:pt x="33236" y="0"/>
                  </a:cubicBezTo>
                  <a:close/>
                </a:path>
              </a:pathLst>
            </a:custGeom>
            <a:solidFill>
              <a:srgbClr val="2FA8C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20257" cy="9507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78652" y="3221182"/>
            <a:ext cx="3494100" cy="3864585"/>
            <a:chOff x="0" y="0"/>
            <a:chExt cx="920257" cy="10178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0257" cy="1017833"/>
            </a:xfrm>
            <a:custGeom>
              <a:avLst/>
              <a:gdLst/>
              <a:ahLst/>
              <a:cxnLst/>
              <a:rect r="r" b="b" t="t" l="l"/>
              <a:pathLst>
                <a:path h="1017833" w="920257">
                  <a:moveTo>
                    <a:pt x="33236" y="0"/>
                  </a:moveTo>
                  <a:lnTo>
                    <a:pt x="887021" y="0"/>
                  </a:lnTo>
                  <a:cubicBezTo>
                    <a:pt x="895836" y="0"/>
                    <a:pt x="904289" y="3502"/>
                    <a:pt x="910522" y="9735"/>
                  </a:cubicBezTo>
                  <a:cubicBezTo>
                    <a:pt x="916755" y="15967"/>
                    <a:pt x="920257" y="24421"/>
                    <a:pt x="920257" y="33236"/>
                  </a:cubicBezTo>
                  <a:lnTo>
                    <a:pt x="920257" y="984597"/>
                  </a:lnTo>
                  <a:cubicBezTo>
                    <a:pt x="920257" y="993412"/>
                    <a:pt x="916755" y="1001865"/>
                    <a:pt x="910522" y="1008098"/>
                  </a:cubicBezTo>
                  <a:cubicBezTo>
                    <a:pt x="904289" y="1014331"/>
                    <a:pt x="895836" y="1017833"/>
                    <a:pt x="887021" y="1017833"/>
                  </a:cubicBezTo>
                  <a:lnTo>
                    <a:pt x="33236" y="1017833"/>
                  </a:lnTo>
                  <a:cubicBezTo>
                    <a:pt x="24421" y="1017833"/>
                    <a:pt x="15967" y="1014331"/>
                    <a:pt x="9735" y="1008098"/>
                  </a:cubicBezTo>
                  <a:cubicBezTo>
                    <a:pt x="3502" y="1001865"/>
                    <a:pt x="0" y="993412"/>
                    <a:pt x="0" y="984597"/>
                  </a:cubicBezTo>
                  <a:lnTo>
                    <a:pt x="0" y="33236"/>
                  </a:lnTo>
                  <a:cubicBezTo>
                    <a:pt x="0" y="24421"/>
                    <a:pt x="3502" y="15967"/>
                    <a:pt x="9735" y="9735"/>
                  </a:cubicBezTo>
                  <a:cubicBezTo>
                    <a:pt x="15967" y="3502"/>
                    <a:pt x="24421" y="0"/>
                    <a:pt x="33236" y="0"/>
                  </a:cubicBezTo>
                  <a:close/>
                </a:path>
              </a:pathLst>
            </a:custGeom>
            <a:solidFill>
              <a:srgbClr val="F59265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20257" cy="1055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78652" y="7326008"/>
            <a:ext cx="3494100" cy="3864585"/>
            <a:chOff x="0" y="0"/>
            <a:chExt cx="920257" cy="10178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0257" cy="1017833"/>
            </a:xfrm>
            <a:custGeom>
              <a:avLst/>
              <a:gdLst/>
              <a:ahLst/>
              <a:cxnLst/>
              <a:rect r="r" b="b" t="t" l="l"/>
              <a:pathLst>
                <a:path h="1017833" w="920257">
                  <a:moveTo>
                    <a:pt x="33236" y="0"/>
                  </a:moveTo>
                  <a:lnTo>
                    <a:pt x="887021" y="0"/>
                  </a:lnTo>
                  <a:cubicBezTo>
                    <a:pt x="895836" y="0"/>
                    <a:pt x="904289" y="3502"/>
                    <a:pt x="910522" y="9735"/>
                  </a:cubicBezTo>
                  <a:cubicBezTo>
                    <a:pt x="916755" y="15967"/>
                    <a:pt x="920257" y="24421"/>
                    <a:pt x="920257" y="33236"/>
                  </a:cubicBezTo>
                  <a:lnTo>
                    <a:pt x="920257" y="984597"/>
                  </a:lnTo>
                  <a:cubicBezTo>
                    <a:pt x="920257" y="993412"/>
                    <a:pt x="916755" y="1001865"/>
                    <a:pt x="910522" y="1008098"/>
                  </a:cubicBezTo>
                  <a:cubicBezTo>
                    <a:pt x="904289" y="1014331"/>
                    <a:pt x="895836" y="1017833"/>
                    <a:pt x="887021" y="1017833"/>
                  </a:cubicBezTo>
                  <a:lnTo>
                    <a:pt x="33236" y="1017833"/>
                  </a:lnTo>
                  <a:cubicBezTo>
                    <a:pt x="24421" y="1017833"/>
                    <a:pt x="15967" y="1014331"/>
                    <a:pt x="9735" y="1008098"/>
                  </a:cubicBezTo>
                  <a:cubicBezTo>
                    <a:pt x="3502" y="1001865"/>
                    <a:pt x="0" y="993412"/>
                    <a:pt x="0" y="984597"/>
                  </a:cubicBezTo>
                  <a:lnTo>
                    <a:pt x="0" y="33236"/>
                  </a:lnTo>
                  <a:cubicBezTo>
                    <a:pt x="0" y="24421"/>
                    <a:pt x="3502" y="15967"/>
                    <a:pt x="9735" y="9735"/>
                  </a:cubicBezTo>
                  <a:cubicBezTo>
                    <a:pt x="15967" y="3502"/>
                    <a:pt x="24421" y="0"/>
                    <a:pt x="33236" y="0"/>
                  </a:cubicBezTo>
                  <a:close/>
                </a:path>
              </a:pathLst>
            </a:custGeom>
            <a:solidFill>
              <a:srgbClr val="EB8EB3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20257" cy="1055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491827" y="-368044"/>
            <a:ext cx="4533191" cy="3890423"/>
            <a:chOff x="0" y="0"/>
            <a:chExt cx="1193927" cy="10246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93927" cy="1024638"/>
            </a:xfrm>
            <a:custGeom>
              <a:avLst/>
              <a:gdLst/>
              <a:ahLst/>
              <a:cxnLst/>
              <a:rect r="r" b="b" t="t" l="l"/>
              <a:pathLst>
                <a:path h="1024638" w="1193927">
                  <a:moveTo>
                    <a:pt x="25617" y="0"/>
                  </a:moveTo>
                  <a:lnTo>
                    <a:pt x="1168309" y="0"/>
                  </a:lnTo>
                  <a:cubicBezTo>
                    <a:pt x="1175104" y="0"/>
                    <a:pt x="1181619" y="2699"/>
                    <a:pt x="1186424" y="7503"/>
                  </a:cubicBezTo>
                  <a:cubicBezTo>
                    <a:pt x="1191228" y="12307"/>
                    <a:pt x="1193927" y="18823"/>
                    <a:pt x="1193927" y="25617"/>
                  </a:cubicBezTo>
                  <a:lnTo>
                    <a:pt x="1193927" y="999021"/>
                  </a:lnTo>
                  <a:cubicBezTo>
                    <a:pt x="1193927" y="1013169"/>
                    <a:pt x="1182457" y="1024638"/>
                    <a:pt x="1168309" y="1024638"/>
                  </a:cubicBezTo>
                  <a:lnTo>
                    <a:pt x="25617" y="1024638"/>
                  </a:lnTo>
                  <a:cubicBezTo>
                    <a:pt x="18823" y="1024638"/>
                    <a:pt x="12307" y="1021939"/>
                    <a:pt x="7503" y="1017135"/>
                  </a:cubicBezTo>
                  <a:cubicBezTo>
                    <a:pt x="2699" y="1012331"/>
                    <a:pt x="0" y="1005815"/>
                    <a:pt x="0" y="999021"/>
                  </a:cubicBezTo>
                  <a:lnTo>
                    <a:pt x="0" y="25617"/>
                  </a:lnTo>
                  <a:cubicBezTo>
                    <a:pt x="0" y="11469"/>
                    <a:pt x="11469" y="0"/>
                    <a:pt x="25617" y="0"/>
                  </a:cubicBezTo>
                  <a:close/>
                </a:path>
              </a:pathLst>
            </a:custGeom>
            <a:solidFill>
              <a:srgbClr val="F5B343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93927" cy="10627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491827" y="3734176"/>
            <a:ext cx="4533191" cy="2952407"/>
            <a:chOff x="0" y="0"/>
            <a:chExt cx="1193927" cy="77758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93927" cy="777589"/>
            </a:xfrm>
            <a:custGeom>
              <a:avLst/>
              <a:gdLst/>
              <a:ahLst/>
              <a:cxnLst/>
              <a:rect r="r" b="b" t="t" l="l"/>
              <a:pathLst>
                <a:path h="777589" w="1193927">
                  <a:moveTo>
                    <a:pt x="25617" y="0"/>
                  </a:moveTo>
                  <a:lnTo>
                    <a:pt x="1168309" y="0"/>
                  </a:lnTo>
                  <a:cubicBezTo>
                    <a:pt x="1175104" y="0"/>
                    <a:pt x="1181619" y="2699"/>
                    <a:pt x="1186424" y="7503"/>
                  </a:cubicBezTo>
                  <a:cubicBezTo>
                    <a:pt x="1191228" y="12307"/>
                    <a:pt x="1193927" y="18823"/>
                    <a:pt x="1193927" y="25617"/>
                  </a:cubicBezTo>
                  <a:lnTo>
                    <a:pt x="1193927" y="751971"/>
                  </a:lnTo>
                  <a:cubicBezTo>
                    <a:pt x="1193927" y="758765"/>
                    <a:pt x="1191228" y="765281"/>
                    <a:pt x="1186424" y="770085"/>
                  </a:cubicBezTo>
                  <a:cubicBezTo>
                    <a:pt x="1181619" y="774890"/>
                    <a:pt x="1175104" y="777589"/>
                    <a:pt x="1168309" y="777589"/>
                  </a:cubicBezTo>
                  <a:lnTo>
                    <a:pt x="25617" y="777589"/>
                  </a:lnTo>
                  <a:cubicBezTo>
                    <a:pt x="11469" y="777589"/>
                    <a:pt x="0" y="766119"/>
                    <a:pt x="0" y="751971"/>
                  </a:cubicBezTo>
                  <a:lnTo>
                    <a:pt x="0" y="25617"/>
                  </a:lnTo>
                  <a:cubicBezTo>
                    <a:pt x="0" y="11469"/>
                    <a:pt x="11469" y="0"/>
                    <a:pt x="25617" y="0"/>
                  </a:cubicBezTo>
                  <a:close/>
                </a:path>
              </a:pathLst>
            </a:custGeom>
            <a:solidFill>
              <a:srgbClr val="DE4F88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93927" cy="815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491827" y="6896132"/>
            <a:ext cx="4533191" cy="4310503"/>
            <a:chOff x="0" y="0"/>
            <a:chExt cx="1193927" cy="11352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93927" cy="1135276"/>
            </a:xfrm>
            <a:custGeom>
              <a:avLst/>
              <a:gdLst/>
              <a:ahLst/>
              <a:cxnLst/>
              <a:rect r="r" b="b" t="t" l="l"/>
              <a:pathLst>
                <a:path h="1135276" w="1193927">
                  <a:moveTo>
                    <a:pt x="25617" y="0"/>
                  </a:moveTo>
                  <a:lnTo>
                    <a:pt x="1168309" y="0"/>
                  </a:lnTo>
                  <a:cubicBezTo>
                    <a:pt x="1175104" y="0"/>
                    <a:pt x="1181619" y="2699"/>
                    <a:pt x="1186424" y="7503"/>
                  </a:cubicBezTo>
                  <a:cubicBezTo>
                    <a:pt x="1191228" y="12307"/>
                    <a:pt x="1193927" y="18823"/>
                    <a:pt x="1193927" y="25617"/>
                  </a:cubicBezTo>
                  <a:lnTo>
                    <a:pt x="1193927" y="1109659"/>
                  </a:lnTo>
                  <a:cubicBezTo>
                    <a:pt x="1193927" y="1123807"/>
                    <a:pt x="1182457" y="1135276"/>
                    <a:pt x="1168309" y="1135276"/>
                  </a:cubicBezTo>
                  <a:lnTo>
                    <a:pt x="25617" y="1135276"/>
                  </a:lnTo>
                  <a:cubicBezTo>
                    <a:pt x="11469" y="1135276"/>
                    <a:pt x="0" y="1123807"/>
                    <a:pt x="0" y="1109659"/>
                  </a:cubicBezTo>
                  <a:lnTo>
                    <a:pt x="0" y="25617"/>
                  </a:lnTo>
                  <a:cubicBezTo>
                    <a:pt x="0" y="11469"/>
                    <a:pt x="11469" y="0"/>
                    <a:pt x="25617" y="0"/>
                  </a:cubicBezTo>
                  <a:close/>
                </a:path>
              </a:pathLst>
            </a:custGeom>
            <a:solidFill>
              <a:srgbClr val="448696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193927" cy="11733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57150" y="-303762"/>
            <a:ext cx="896373" cy="11009723"/>
            <a:chOff x="0" y="0"/>
            <a:chExt cx="236082" cy="2899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6082" cy="2899680"/>
            </a:xfrm>
            <a:custGeom>
              <a:avLst/>
              <a:gdLst/>
              <a:ahLst/>
              <a:cxnLst/>
              <a:rect r="r" b="b" t="t" l="l"/>
              <a:pathLst>
                <a:path h="2899680" w="236082">
                  <a:moveTo>
                    <a:pt x="118041" y="0"/>
                  </a:moveTo>
                  <a:lnTo>
                    <a:pt x="118041" y="0"/>
                  </a:lnTo>
                  <a:cubicBezTo>
                    <a:pt x="149347" y="0"/>
                    <a:pt x="179371" y="12436"/>
                    <a:pt x="201508" y="34573"/>
                  </a:cubicBezTo>
                  <a:cubicBezTo>
                    <a:pt x="223645" y="56710"/>
                    <a:pt x="236082" y="86734"/>
                    <a:pt x="236082" y="118041"/>
                  </a:cubicBezTo>
                  <a:lnTo>
                    <a:pt x="236082" y="2781639"/>
                  </a:lnTo>
                  <a:cubicBezTo>
                    <a:pt x="236082" y="2812946"/>
                    <a:pt x="223645" y="2842970"/>
                    <a:pt x="201508" y="2865107"/>
                  </a:cubicBezTo>
                  <a:cubicBezTo>
                    <a:pt x="179371" y="2887244"/>
                    <a:pt x="149347" y="2899680"/>
                    <a:pt x="118041" y="2899680"/>
                  </a:cubicBezTo>
                  <a:lnTo>
                    <a:pt x="118041" y="2899680"/>
                  </a:lnTo>
                  <a:cubicBezTo>
                    <a:pt x="86734" y="2899680"/>
                    <a:pt x="56710" y="2887244"/>
                    <a:pt x="34573" y="2865107"/>
                  </a:cubicBezTo>
                  <a:cubicBezTo>
                    <a:pt x="12436" y="2842970"/>
                    <a:pt x="0" y="2812946"/>
                    <a:pt x="0" y="2781639"/>
                  </a:cubicBezTo>
                  <a:lnTo>
                    <a:pt x="0" y="118041"/>
                  </a:lnTo>
                  <a:cubicBezTo>
                    <a:pt x="0" y="86734"/>
                    <a:pt x="12436" y="56710"/>
                    <a:pt x="34573" y="34573"/>
                  </a:cubicBezTo>
                  <a:cubicBezTo>
                    <a:pt x="56710" y="12436"/>
                    <a:pt x="86734" y="0"/>
                    <a:pt x="118041" y="0"/>
                  </a:cubicBezTo>
                  <a:close/>
                </a:path>
              </a:pathLst>
            </a:custGeom>
            <a:solidFill>
              <a:srgbClr val="448696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36082" cy="2937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808884" y="6295824"/>
            <a:ext cx="7468623" cy="1484634"/>
            <a:chOff x="0" y="0"/>
            <a:chExt cx="1967045" cy="39101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67045" cy="391015"/>
            </a:xfrm>
            <a:custGeom>
              <a:avLst/>
              <a:gdLst/>
              <a:ahLst/>
              <a:cxnLst/>
              <a:rect r="r" b="b" t="t" l="l"/>
              <a:pathLst>
                <a:path h="391015" w="1967045">
                  <a:moveTo>
                    <a:pt x="15549" y="0"/>
                  </a:moveTo>
                  <a:lnTo>
                    <a:pt x="1951496" y="0"/>
                  </a:lnTo>
                  <a:cubicBezTo>
                    <a:pt x="1960083" y="0"/>
                    <a:pt x="1967045" y="6961"/>
                    <a:pt x="1967045" y="15549"/>
                  </a:cubicBezTo>
                  <a:lnTo>
                    <a:pt x="1967045" y="375466"/>
                  </a:lnTo>
                  <a:cubicBezTo>
                    <a:pt x="1967045" y="379590"/>
                    <a:pt x="1965406" y="383545"/>
                    <a:pt x="1962490" y="386461"/>
                  </a:cubicBezTo>
                  <a:cubicBezTo>
                    <a:pt x="1959575" y="389377"/>
                    <a:pt x="1955620" y="391015"/>
                    <a:pt x="1951496" y="391015"/>
                  </a:cubicBezTo>
                  <a:lnTo>
                    <a:pt x="15549" y="391015"/>
                  </a:lnTo>
                  <a:cubicBezTo>
                    <a:pt x="11425" y="391015"/>
                    <a:pt x="7470" y="389377"/>
                    <a:pt x="4554" y="386461"/>
                  </a:cubicBezTo>
                  <a:cubicBezTo>
                    <a:pt x="1638" y="383545"/>
                    <a:pt x="0" y="379590"/>
                    <a:pt x="0" y="375466"/>
                  </a:cubicBezTo>
                  <a:lnTo>
                    <a:pt x="0" y="15549"/>
                  </a:lnTo>
                  <a:cubicBezTo>
                    <a:pt x="0" y="11425"/>
                    <a:pt x="1638" y="7470"/>
                    <a:pt x="4554" y="4554"/>
                  </a:cubicBezTo>
                  <a:cubicBezTo>
                    <a:pt x="7470" y="1638"/>
                    <a:pt x="11425" y="0"/>
                    <a:pt x="15549" y="0"/>
                  </a:cubicBezTo>
                  <a:close/>
                </a:path>
              </a:pathLst>
            </a:custGeom>
            <a:solidFill>
              <a:srgbClr val="A4C7D0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967045" cy="429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060768" y="3187411"/>
            <a:ext cx="7881429" cy="1390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99"/>
              </a:lnSpc>
            </a:pPr>
            <a:r>
              <a:rPr lang="en-US" sz="104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MEADIATOR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325873" y="4205288"/>
            <a:ext cx="2199926" cy="2010182"/>
          </a:xfrm>
          <a:custGeom>
            <a:avLst/>
            <a:gdLst/>
            <a:ahLst/>
            <a:cxnLst/>
            <a:rect r="r" b="b" t="t" l="l"/>
            <a:pathLst>
              <a:path h="2010182" w="2199926">
                <a:moveTo>
                  <a:pt x="0" y="0"/>
                </a:moveTo>
                <a:lnTo>
                  <a:pt x="2199926" y="0"/>
                </a:lnTo>
                <a:lnTo>
                  <a:pt x="2199926" y="2010182"/>
                </a:lnTo>
                <a:lnTo>
                  <a:pt x="0" y="2010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552665" y="3940967"/>
            <a:ext cx="1946074" cy="2425015"/>
          </a:xfrm>
          <a:custGeom>
            <a:avLst/>
            <a:gdLst/>
            <a:ahLst/>
            <a:cxnLst/>
            <a:rect r="r" b="b" t="t" l="l"/>
            <a:pathLst>
              <a:path h="2425015" w="1946074">
                <a:moveTo>
                  <a:pt x="0" y="0"/>
                </a:moveTo>
                <a:lnTo>
                  <a:pt x="1946074" y="0"/>
                </a:lnTo>
                <a:lnTo>
                  <a:pt x="1946074" y="2425015"/>
                </a:lnTo>
                <a:lnTo>
                  <a:pt x="0" y="24250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109806" y="465922"/>
            <a:ext cx="2632060" cy="2605739"/>
          </a:xfrm>
          <a:custGeom>
            <a:avLst/>
            <a:gdLst/>
            <a:ahLst/>
            <a:cxnLst/>
            <a:rect r="r" b="b" t="t" l="l"/>
            <a:pathLst>
              <a:path h="2605739" w="2632060">
                <a:moveTo>
                  <a:pt x="0" y="0"/>
                </a:moveTo>
                <a:lnTo>
                  <a:pt x="2632059" y="0"/>
                </a:lnTo>
                <a:lnTo>
                  <a:pt x="2632059" y="2605739"/>
                </a:lnTo>
                <a:lnTo>
                  <a:pt x="0" y="26057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5426493" y="7561355"/>
            <a:ext cx="1998685" cy="2400823"/>
          </a:xfrm>
          <a:custGeom>
            <a:avLst/>
            <a:gdLst/>
            <a:ahLst/>
            <a:cxnLst/>
            <a:rect r="r" b="b" t="t" l="l"/>
            <a:pathLst>
              <a:path h="2400823" w="1998685">
                <a:moveTo>
                  <a:pt x="0" y="0"/>
                </a:moveTo>
                <a:lnTo>
                  <a:pt x="1998685" y="0"/>
                </a:lnTo>
                <a:lnTo>
                  <a:pt x="1998685" y="2400822"/>
                </a:lnTo>
                <a:lnTo>
                  <a:pt x="0" y="24008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287504" y="465922"/>
            <a:ext cx="2476395" cy="2002784"/>
          </a:xfrm>
          <a:custGeom>
            <a:avLst/>
            <a:gdLst/>
            <a:ahLst/>
            <a:cxnLst/>
            <a:rect r="r" b="b" t="t" l="l"/>
            <a:pathLst>
              <a:path h="2002784" w="2476395">
                <a:moveTo>
                  <a:pt x="0" y="0"/>
                </a:moveTo>
                <a:lnTo>
                  <a:pt x="2476395" y="0"/>
                </a:lnTo>
                <a:lnTo>
                  <a:pt x="2476395" y="2002785"/>
                </a:lnTo>
                <a:lnTo>
                  <a:pt x="0" y="20027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1796809" y="7838241"/>
            <a:ext cx="1457786" cy="1983382"/>
          </a:xfrm>
          <a:custGeom>
            <a:avLst/>
            <a:gdLst/>
            <a:ahLst/>
            <a:cxnLst/>
            <a:rect r="r" b="b" t="t" l="l"/>
            <a:pathLst>
              <a:path h="1983382" w="1457786">
                <a:moveTo>
                  <a:pt x="0" y="0"/>
                </a:moveTo>
                <a:lnTo>
                  <a:pt x="1457786" y="0"/>
                </a:lnTo>
                <a:lnTo>
                  <a:pt x="1457786" y="1983383"/>
                </a:lnTo>
                <a:lnTo>
                  <a:pt x="0" y="19833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2158385" y="6633710"/>
            <a:ext cx="6740583" cy="427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7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PADRÕES DE PROJETO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B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20738" y="3205799"/>
            <a:ext cx="13246524" cy="3215888"/>
            <a:chOff x="0" y="0"/>
            <a:chExt cx="4038260" cy="9803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38260" cy="980377"/>
            </a:xfrm>
            <a:custGeom>
              <a:avLst/>
              <a:gdLst/>
              <a:ahLst/>
              <a:cxnLst/>
              <a:rect r="r" b="b" t="t" l="l"/>
              <a:pathLst>
                <a:path h="980377" w="4038260">
                  <a:moveTo>
                    <a:pt x="8767" y="0"/>
                  </a:moveTo>
                  <a:lnTo>
                    <a:pt x="4029493" y="0"/>
                  </a:lnTo>
                  <a:cubicBezTo>
                    <a:pt x="4034335" y="0"/>
                    <a:pt x="4038260" y="3925"/>
                    <a:pt x="4038260" y="8767"/>
                  </a:cubicBezTo>
                  <a:lnTo>
                    <a:pt x="4038260" y="971611"/>
                  </a:lnTo>
                  <a:cubicBezTo>
                    <a:pt x="4038260" y="973936"/>
                    <a:pt x="4037337" y="976166"/>
                    <a:pt x="4035692" y="977810"/>
                  </a:cubicBezTo>
                  <a:cubicBezTo>
                    <a:pt x="4034048" y="979454"/>
                    <a:pt x="4031819" y="980377"/>
                    <a:pt x="4029493" y="980377"/>
                  </a:cubicBezTo>
                  <a:lnTo>
                    <a:pt x="8767" y="980377"/>
                  </a:lnTo>
                  <a:cubicBezTo>
                    <a:pt x="6442" y="980377"/>
                    <a:pt x="4212" y="979454"/>
                    <a:pt x="2568" y="977810"/>
                  </a:cubicBezTo>
                  <a:cubicBezTo>
                    <a:pt x="924" y="976166"/>
                    <a:pt x="0" y="973936"/>
                    <a:pt x="0" y="971611"/>
                  </a:cubicBezTo>
                  <a:lnTo>
                    <a:pt x="0" y="8767"/>
                  </a:lnTo>
                  <a:cubicBezTo>
                    <a:pt x="0" y="6442"/>
                    <a:pt x="924" y="4212"/>
                    <a:pt x="2568" y="2568"/>
                  </a:cubicBezTo>
                  <a:cubicBezTo>
                    <a:pt x="4212" y="924"/>
                    <a:pt x="6442" y="0"/>
                    <a:pt x="8767" y="0"/>
                  </a:cubicBezTo>
                  <a:close/>
                </a:path>
              </a:pathLst>
            </a:custGeom>
            <a:solidFill>
              <a:srgbClr val="FDFCF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38260" cy="1018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118216" y="1880583"/>
            <a:ext cx="12051569" cy="1725267"/>
            <a:chOff x="0" y="0"/>
            <a:chExt cx="3673973" cy="5259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73973" cy="525955"/>
            </a:xfrm>
            <a:custGeom>
              <a:avLst/>
              <a:gdLst/>
              <a:ahLst/>
              <a:cxnLst/>
              <a:rect r="r" b="b" t="t" l="l"/>
              <a:pathLst>
                <a:path h="525955" w="3673973">
                  <a:moveTo>
                    <a:pt x="9636" y="0"/>
                  </a:moveTo>
                  <a:lnTo>
                    <a:pt x="3664337" y="0"/>
                  </a:lnTo>
                  <a:cubicBezTo>
                    <a:pt x="3666893" y="0"/>
                    <a:pt x="3669343" y="1015"/>
                    <a:pt x="3671151" y="2822"/>
                  </a:cubicBezTo>
                  <a:cubicBezTo>
                    <a:pt x="3672958" y="4629"/>
                    <a:pt x="3673973" y="7080"/>
                    <a:pt x="3673973" y="9636"/>
                  </a:cubicBezTo>
                  <a:lnTo>
                    <a:pt x="3673973" y="516319"/>
                  </a:lnTo>
                  <a:cubicBezTo>
                    <a:pt x="3673973" y="518875"/>
                    <a:pt x="3672958" y="521326"/>
                    <a:pt x="3671151" y="523133"/>
                  </a:cubicBezTo>
                  <a:cubicBezTo>
                    <a:pt x="3669343" y="524940"/>
                    <a:pt x="3666893" y="525955"/>
                    <a:pt x="3664337" y="525955"/>
                  </a:cubicBezTo>
                  <a:lnTo>
                    <a:pt x="9636" y="525955"/>
                  </a:lnTo>
                  <a:cubicBezTo>
                    <a:pt x="4314" y="525955"/>
                    <a:pt x="0" y="521641"/>
                    <a:pt x="0" y="516319"/>
                  </a:cubicBezTo>
                  <a:lnTo>
                    <a:pt x="0" y="9636"/>
                  </a:lnTo>
                  <a:cubicBezTo>
                    <a:pt x="0" y="7080"/>
                    <a:pt x="1015" y="4629"/>
                    <a:pt x="2822" y="2822"/>
                  </a:cubicBezTo>
                  <a:cubicBezTo>
                    <a:pt x="4629" y="1015"/>
                    <a:pt x="7080" y="0"/>
                    <a:pt x="9636" y="0"/>
                  </a:cubicBezTo>
                  <a:close/>
                </a:path>
              </a:pathLst>
            </a:custGeom>
            <a:solidFill>
              <a:srgbClr val="DE4F8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73973" cy="564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5400000">
            <a:off x="-1209613" y="-1339518"/>
            <a:ext cx="5145312" cy="2315390"/>
          </a:xfrm>
          <a:custGeom>
            <a:avLst/>
            <a:gdLst/>
            <a:ahLst/>
            <a:cxnLst/>
            <a:rect r="r" b="b" t="t" l="l"/>
            <a:pathLst>
              <a:path h="2315390" w="5145312">
                <a:moveTo>
                  <a:pt x="0" y="0"/>
                </a:moveTo>
                <a:lnTo>
                  <a:pt x="5145312" y="0"/>
                </a:lnTo>
                <a:lnTo>
                  <a:pt x="5145312" y="2315390"/>
                </a:lnTo>
                <a:lnTo>
                  <a:pt x="0" y="23153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82157" y="2219340"/>
            <a:ext cx="9923686" cy="1209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FDFCF5"/>
                </a:solidFill>
                <a:latin typeface="HK Grotesk"/>
                <a:ea typeface="HK Grotesk"/>
                <a:cs typeface="HK Grotesk"/>
                <a:sym typeface="HK Grotesk"/>
              </a:rPr>
              <a:t>SOBRE O PADRÃO</a:t>
            </a:r>
          </a:p>
        </p:txBody>
      </p:sp>
      <p:sp>
        <p:nvSpPr>
          <p:cNvPr name="Freeform 10" id="10"/>
          <p:cNvSpPr/>
          <p:nvPr/>
        </p:nvSpPr>
        <p:spPr>
          <a:xfrm flipH="true" flipV="true" rot="5400000">
            <a:off x="14892833" y="8788155"/>
            <a:ext cx="5145312" cy="2315390"/>
          </a:xfrm>
          <a:custGeom>
            <a:avLst/>
            <a:gdLst/>
            <a:ahLst/>
            <a:cxnLst/>
            <a:rect r="r" b="b" t="t" l="l"/>
            <a:pathLst>
              <a:path h="2315390" w="5145312">
                <a:moveTo>
                  <a:pt x="5145311" y="2315390"/>
                </a:moveTo>
                <a:lnTo>
                  <a:pt x="0" y="2315390"/>
                </a:lnTo>
                <a:lnTo>
                  <a:pt x="0" y="0"/>
                </a:lnTo>
                <a:lnTo>
                  <a:pt x="5145311" y="0"/>
                </a:lnTo>
                <a:lnTo>
                  <a:pt x="5145311" y="23153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919638" y="4055300"/>
            <a:ext cx="12847623" cy="196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1"/>
              </a:lnSpc>
            </a:pPr>
            <a:r>
              <a:rPr lang="en-US" sz="2786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O Mediator é um padrão de projeto comportamental que permite que você reduza as dependências caóticas entre objetos. O padrão restringe comunicações diretas entre objetos e os força a colaborar apenas através do objeto mediador.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B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74898" y="2543191"/>
            <a:ext cx="14057188" cy="7743809"/>
            <a:chOff x="0" y="0"/>
            <a:chExt cx="4285395" cy="2360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5395" cy="2360734"/>
            </a:xfrm>
            <a:custGeom>
              <a:avLst/>
              <a:gdLst/>
              <a:ahLst/>
              <a:cxnLst/>
              <a:rect r="r" b="b" t="t" l="l"/>
              <a:pathLst>
                <a:path h="2360734" w="4285395">
                  <a:moveTo>
                    <a:pt x="8261" y="0"/>
                  </a:moveTo>
                  <a:lnTo>
                    <a:pt x="4277134" y="0"/>
                  </a:lnTo>
                  <a:cubicBezTo>
                    <a:pt x="4281696" y="0"/>
                    <a:pt x="4285395" y="3699"/>
                    <a:pt x="4285395" y="8261"/>
                  </a:cubicBezTo>
                  <a:lnTo>
                    <a:pt x="4285395" y="2352473"/>
                  </a:lnTo>
                  <a:cubicBezTo>
                    <a:pt x="4285395" y="2354664"/>
                    <a:pt x="4284525" y="2356765"/>
                    <a:pt x="4282975" y="2358314"/>
                  </a:cubicBezTo>
                  <a:cubicBezTo>
                    <a:pt x="4281426" y="2359864"/>
                    <a:pt x="4279325" y="2360734"/>
                    <a:pt x="4277134" y="2360734"/>
                  </a:cubicBezTo>
                  <a:lnTo>
                    <a:pt x="8261" y="2360734"/>
                  </a:lnTo>
                  <a:cubicBezTo>
                    <a:pt x="3699" y="2360734"/>
                    <a:pt x="0" y="2357035"/>
                    <a:pt x="0" y="2352473"/>
                  </a:cubicBezTo>
                  <a:lnTo>
                    <a:pt x="0" y="8261"/>
                  </a:lnTo>
                  <a:cubicBezTo>
                    <a:pt x="0" y="3699"/>
                    <a:pt x="3699" y="0"/>
                    <a:pt x="8261" y="0"/>
                  </a:cubicBezTo>
                  <a:close/>
                </a:path>
              </a:pathLst>
            </a:custGeom>
            <a:solidFill>
              <a:srgbClr val="FDFCF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85395" cy="2398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19638" y="0"/>
            <a:ext cx="12051569" cy="2691435"/>
            <a:chOff x="0" y="0"/>
            <a:chExt cx="3673973" cy="8204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73973" cy="820496"/>
            </a:xfrm>
            <a:custGeom>
              <a:avLst/>
              <a:gdLst/>
              <a:ahLst/>
              <a:cxnLst/>
              <a:rect r="r" b="b" t="t" l="l"/>
              <a:pathLst>
                <a:path h="820496" w="3673973">
                  <a:moveTo>
                    <a:pt x="9636" y="0"/>
                  </a:moveTo>
                  <a:lnTo>
                    <a:pt x="3664337" y="0"/>
                  </a:lnTo>
                  <a:cubicBezTo>
                    <a:pt x="3666893" y="0"/>
                    <a:pt x="3669343" y="1015"/>
                    <a:pt x="3671151" y="2822"/>
                  </a:cubicBezTo>
                  <a:cubicBezTo>
                    <a:pt x="3672958" y="4629"/>
                    <a:pt x="3673973" y="7080"/>
                    <a:pt x="3673973" y="9636"/>
                  </a:cubicBezTo>
                  <a:lnTo>
                    <a:pt x="3673973" y="810860"/>
                  </a:lnTo>
                  <a:cubicBezTo>
                    <a:pt x="3673973" y="816181"/>
                    <a:pt x="3669659" y="820496"/>
                    <a:pt x="3664337" y="820496"/>
                  </a:cubicBezTo>
                  <a:lnTo>
                    <a:pt x="9636" y="820496"/>
                  </a:lnTo>
                  <a:cubicBezTo>
                    <a:pt x="7080" y="820496"/>
                    <a:pt x="4629" y="819480"/>
                    <a:pt x="2822" y="817673"/>
                  </a:cubicBezTo>
                  <a:cubicBezTo>
                    <a:pt x="1015" y="815866"/>
                    <a:pt x="0" y="813415"/>
                    <a:pt x="0" y="810860"/>
                  </a:cubicBezTo>
                  <a:lnTo>
                    <a:pt x="0" y="9636"/>
                  </a:lnTo>
                  <a:cubicBezTo>
                    <a:pt x="0" y="7080"/>
                    <a:pt x="1015" y="4629"/>
                    <a:pt x="2822" y="2822"/>
                  </a:cubicBezTo>
                  <a:cubicBezTo>
                    <a:pt x="4629" y="1015"/>
                    <a:pt x="7080" y="0"/>
                    <a:pt x="9636" y="0"/>
                  </a:cubicBezTo>
                  <a:close/>
                </a:path>
              </a:pathLst>
            </a:custGeom>
            <a:solidFill>
              <a:srgbClr val="DE4F8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73973" cy="858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5400000">
            <a:off x="-1209613" y="-1339518"/>
            <a:ext cx="5145312" cy="2315390"/>
          </a:xfrm>
          <a:custGeom>
            <a:avLst/>
            <a:gdLst/>
            <a:ahLst/>
            <a:cxnLst/>
            <a:rect r="r" b="b" t="t" l="l"/>
            <a:pathLst>
              <a:path h="2315390" w="5145312">
                <a:moveTo>
                  <a:pt x="0" y="0"/>
                </a:moveTo>
                <a:lnTo>
                  <a:pt x="5145312" y="0"/>
                </a:lnTo>
                <a:lnTo>
                  <a:pt x="5145312" y="2315390"/>
                </a:lnTo>
                <a:lnTo>
                  <a:pt x="0" y="23153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82157" y="338758"/>
            <a:ext cx="9923686" cy="2352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FDFCF5"/>
                </a:solidFill>
                <a:latin typeface="HK Grotesk"/>
                <a:ea typeface="HK Grotesk"/>
                <a:cs typeface="HK Grotesk"/>
                <a:sym typeface="HK Grotesk"/>
              </a:rPr>
              <a:t>ANALOGIA COM O MUNDO REAL</a:t>
            </a:r>
          </a:p>
        </p:txBody>
      </p:sp>
      <p:sp>
        <p:nvSpPr>
          <p:cNvPr name="Freeform 10" id="10"/>
          <p:cNvSpPr/>
          <p:nvPr/>
        </p:nvSpPr>
        <p:spPr>
          <a:xfrm flipH="true" flipV="true" rot="5400000">
            <a:off x="14892833" y="8788155"/>
            <a:ext cx="5145312" cy="2315390"/>
          </a:xfrm>
          <a:custGeom>
            <a:avLst/>
            <a:gdLst/>
            <a:ahLst/>
            <a:cxnLst/>
            <a:rect r="r" b="b" t="t" l="l"/>
            <a:pathLst>
              <a:path h="2315390" w="5145312">
                <a:moveTo>
                  <a:pt x="5145311" y="2315390"/>
                </a:moveTo>
                <a:lnTo>
                  <a:pt x="0" y="2315390"/>
                </a:lnTo>
                <a:lnTo>
                  <a:pt x="0" y="0"/>
                </a:lnTo>
                <a:lnTo>
                  <a:pt x="5145311" y="0"/>
                </a:lnTo>
                <a:lnTo>
                  <a:pt x="5145311" y="23153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78120" y="2692233"/>
            <a:ext cx="13510974" cy="760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PENSANDO EM UM AEROPORTO ONDE HÁ DIVERSAS PISTAS PARA OS AVIÕES POUSAREM. O AVIÃO “A” QUER POUSAR, ENQUANTO HÁ OUTROS AVIÕES (B,C,D ...) TAMBÉM PRONTOS PARA POUSAR. SE TODOS CHEGAM AO MESMO TEMPO, ELES PRECISAM DE UMA ORGANIZAÇÃO E COMUNICAÇÃO PARA SABER EM QUAL PISTA DESCER. </a:t>
            </a:r>
          </a:p>
          <a:p>
            <a:pPr algn="ctr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SEM O PADRÃO MEDIATOR: </a:t>
            </a:r>
            <a:r>
              <a:rPr lang="en-US" sz="27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CADA PILOTO TERIA QUE SE COMUNICAR ENTRE SI E INTERAGIR, PODENDO TER MUITAS INFORMAÇÕES E FALTA DE ATENÇÃO. ALÉM DO QUE SE UM OUTRO AVIÃO CHEGA (E) NO MESMO MOMENTO, ELE TAMBÉM PRECISA ENTENDER A LÓGICA QUE OS PILOTOS ESTÃO ORGANIZANDO E SE ATUALIZAR DESSAS INFORMAÇÕES. </a:t>
            </a:r>
          </a:p>
          <a:p>
            <a:pPr algn="ctr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COM MEDIATOR:</a:t>
            </a:r>
            <a:r>
              <a:rPr lang="en-US" sz="27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 TODOS OS PILOTOS ENTRAM EM CONTATO COM A TORRE DE CONTROLE, E ELA GERENCIA E INFORMA O QUE CADA PILOTO DEVE FAZER E ONDE POUSAR, SEM PRECISAR TER COMUNICAÇÃO ENTRE O AVIÃO: A, B, C, D ...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O AVIÃO A: QUER POUSAR. A TORRE( MEDIATOR) RECEBE A MENSAGEM, E É A ÚNICA QUE DETERMINA A  REGRA DE POUSO. ELA DECIDE EM QUAL PISTA DESCER E QUEM DEVE ESPERAR.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B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007" y="354434"/>
            <a:ext cx="17388884" cy="9607359"/>
          </a:xfrm>
          <a:custGeom>
            <a:avLst/>
            <a:gdLst/>
            <a:ahLst/>
            <a:cxnLst/>
            <a:rect r="r" b="b" t="t" l="l"/>
            <a:pathLst>
              <a:path h="9607359" w="17388884">
                <a:moveTo>
                  <a:pt x="0" y="0"/>
                </a:moveTo>
                <a:lnTo>
                  <a:pt x="17388884" y="0"/>
                </a:lnTo>
                <a:lnTo>
                  <a:pt x="17388884" y="9607359"/>
                </a:lnTo>
                <a:lnTo>
                  <a:pt x="0" y="96073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B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611630"/>
            <a:ext cx="18288000" cy="7063740"/>
          </a:xfrm>
          <a:custGeom>
            <a:avLst/>
            <a:gdLst/>
            <a:ahLst/>
            <a:cxnLst/>
            <a:rect r="r" b="b" t="t" l="l"/>
            <a:pathLst>
              <a:path h="7063740" w="18288000">
                <a:moveTo>
                  <a:pt x="0" y="0"/>
                </a:moveTo>
                <a:lnTo>
                  <a:pt x="18288000" y="0"/>
                </a:lnTo>
                <a:lnTo>
                  <a:pt x="18288000" y="7063740"/>
                </a:lnTo>
                <a:lnTo>
                  <a:pt x="0" y="7063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88B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15406" y="1514491"/>
            <a:ext cx="14057188" cy="7743809"/>
            <a:chOff x="0" y="0"/>
            <a:chExt cx="4285395" cy="2360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5395" cy="2360734"/>
            </a:xfrm>
            <a:custGeom>
              <a:avLst/>
              <a:gdLst/>
              <a:ahLst/>
              <a:cxnLst/>
              <a:rect r="r" b="b" t="t" l="l"/>
              <a:pathLst>
                <a:path h="2360734" w="4285395">
                  <a:moveTo>
                    <a:pt x="8261" y="0"/>
                  </a:moveTo>
                  <a:lnTo>
                    <a:pt x="4277134" y="0"/>
                  </a:lnTo>
                  <a:cubicBezTo>
                    <a:pt x="4281696" y="0"/>
                    <a:pt x="4285395" y="3699"/>
                    <a:pt x="4285395" y="8261"/>
                  </a:cubicBezTo>
                  <a:lnTo>
                    <a:pt x="4285395" y="2352473"/>
                  </a:lnTo>
                  <a:cubicBezTo>
                    <a:pt x="4285395" y="2354664"/>
                    <a:pt x="4284525" y="2356765"/>
                    <a:pt x="4282975" y="2358314"/>
                  </a:cubicBezTo>
                  <a:cubicBezTo>
                    <a:pt x="4281426" y="2359864"/>
                    <a:pt x="4279325" y="2360734"/>
                    <a:pt x="4277134" y="2360734"/>
                  </a:cubicBezTo>
                  <a:lnTo>
                    <a:pt x="8261" y="2360734"/>
                  </a:lnTo>
                  <a:cubicBezTo>
                    <a:pt x="3699" y="2360734"/>
                    <a:pt x="0" y="2357035"/>
                    <a:pt x="0" y="2352473"/>
                  </a:cubicBezTo>
                  <a:lnTo>
                    <a:pt x="0" y="8261"/>
                  </a:lnTo>
                  <a:cubicBezTo>
                    <a:pt x="0" y="3699"/>
                    <a:pt x="3699" y="0"/>
                    <a:pt x="8261" y="0"/>
                  </a:cubicBezTo>
                  <a:close/>
                </a:path>
              </a:pathLst>
            </a:custGeom>
            <a:solidFill>
              <a:srgbClr val="FDFCF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85395" cy="2398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87902" y="3453765"/>
            <a:ext cx="13312196" cy="427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</a:t>
            </a: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código temos um formulário onde a pessoa precisa preencher o nome e o estado civil. O estado civil está totalmente ligado ao nome. Se a pessoa preencher o nome,  o estado civil aparece para ser preenchido, agora se o nome não é preenchido, onde no código ele identifica que nome não é maior que zero: if (this.nome.length &gt; 0)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aí desabilita a opção de estado civil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Então a classe nome está diretamente acoplada/ dependente de saber o que fazer com a classe de estado civil.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5748020"/>
            <a:ext cx="182880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B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4948" y="652286"/>
            <a:ext cx="16064352" cy="9076359"/>
          </a:xfrm>
          <a:custGeom>
            <a:avLst/>
            <a:gdLst/>
            <a:ahLst/>
            <a:cxnLst/>
            <a:rect r="r" b="b" t="t" l="l"/>
            <a:pathLst>
              <a:path h="9076359" w="16064352">
                <a:moveTo>
                  <a:pt x="0" y="0"/>
                </a:moveTo>
                <a:lnTo>
                  <a:pt x="16064352" y="0"/>
                </a:lnTo>
                <a:lnTo>
                  <a:pt x="16064352" y="9076358"/>
                </a:lnTo>
                <a:lnTo>
                  <a:pt x="0" y="9076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B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46770"/>
            <a:ext cx="15996252" cy="9257831"/>
          </a:xfrm>
          <a:custGeom>
            <a:avLst/>
            <a:gdLst/>
            <a:ahLst/>
            <a:cxnLst/>
            <a:rect r="r" b="b" t="t" l="l"/>
            <a:pathLst>
              <a:path h="9257831" w="15996252">
                <a:moveTo>
                  <a:pt x="0" y="0"/>
                </a:moveTo>
                <a:lnTo>
                  <a:pt x="15996252" y="0"/>
                </a:lnTo>
                <a:lnTo>
                  <a:pt x="15996252" y="9257831"/>
                </a:lnTo>
                <a:lnTo>
                  <a:pt x="0" y="92578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B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9790" y="3150210"/>
            <a:ext cx="16288708" cy="3800014"/>
          </a:xfrm>
          <a:custGeom>
            <a:avLst/>
            <a:gdLst/>
            <a:ahLst/>
            <a:cxnLst/>
            <a:rect r="r" b="b" t="t" l="l"/>
            <a:pathLst>
              <a:path h="3800014" w="16288708">
                <a:moveTo>
                  <a:pt x="0" y="0"/>
                </a:moveTo>
                <a:lnTo>
                  <a:pt x="16288708" y="0"/>
                </a:lnTo>
                <a:lnTo>
                  <a:pt x="16288708" y="3800014"/>
                </a:lnTo>
                <a:lnTo>
                  <a:pt x="0" y="3800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88B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271595"/>
            <a:ext cx="15870697" cy="7743809"/>
            <a:chOff x="0" y="0"/>
            <a:chExt cx="4838251" cy="2360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38251" cy="2360734"/>
            </a:xfrm>
            <a:custGeom>
              <a:avLst/>
              <a:gdLst/>
              <a:ahLst/>
              <a:cxnLst/>
              <a:rect r="r" b="b" t="t" l="l"/>
              <a:pathLst>
                <a:path h="2360734" w="4838251">
                  <a:moveTo>
                    <a:pt x="7317" y="0"/>
                  </a:moveTo>
                  <a:lnTo>
                    <a:pt x="4830934" y="0"/>
                  </a:lnTo>
                  <a:cubicBezTo>
                    <a:pt x="4834975" y="0"/>
                    <a:pt x="4838251" y="3276"/>
                    <a:pt x="4838251" y="7317"/>
                  </a:cubicBezTo>
                  <a:lnTo>
                    <a:pt x="4838251" y="2353417"/>
                  </a:lnTo>
                  <a:cubicBezTo>
                    <a:pt x="4838251" y="2357458"/>
                    <a:pt x="4834975" y="2360734"/>
                    <a:pt x="4830934" y="2360734"/>
                  </a:cubicBezTo>
                  <a:lnTo>
                    <a:pt x="7317" y="2360734"/>
                  </a:lnTo>
                  <a:cubicBezTo>
                    <a:pt x="3276" y="2360734"/>
                    <a:pt x="0" y="2357458"/>
                    <a:pt x="0" y="2353417"/>
                  </a:cubicBezTo>
                  <a:lnTo>
                    <a:pt x="0" y="7317"/>
                  </a:lnTo>
                  <a:cubicBezTo>
                    <a:pt x="0" y="3276"/>
                    <a:pt x="3276" y="0"/>
                    <a:pt x="7317" y="0"/>
                  </a:cubicBezTo>
                  <a:close/>
                </a:path>
              </a:pathLst>
            </a:custGeom>
            <a:solidFill>
              <a:srgbClr val="FDFCF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38251" cy="2398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00457" y="1862772"/>
            <a:ext cx="13927183" cy="699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Neste código com Mediator, o nome e o estado civil estão independentes um do outro em public notificar acontece a regra do negócio e este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</a:t>
            </a:r>
            <a:r>
              <a:rPr lang="en-US" sz="2699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f (valorNome.length &gt; 0) {</a:t>
            </a:r>
          </a:p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       this.estadoCivil.habilitar();</a:t>
            </a:r>
          </a:p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     } else {</a:t>
            </a:r>
          </a:p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       this.estadoCivil.desabilitar();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 Nome informa o Mediador. O Mediador interpreta a regra (if) e chama o método habilitar do Estado Civil.</a:t>
            </a:r>
          </a:p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M</a:t>
            </a:r>
            <a:r>
              <a:rPr lang="en-US" sz="2699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as dessa vez a classe estado civil não está dependente e acoplada ao nome. Então se eu quiser aumentar meu formulário e deixar o estado civil dependendo da pessoa ter preenchido o nome da esposa/marido, é possível sem interferir na classe nome e só preciso alterar o FormMediator.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B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20738" y="3205799"/>
            <a:ext cx="13246524" cy="6740051"/>
            <a:chOff x="0" y="0"/>
            <a:chExt cx="4038260" cy="2054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38260" cy="2054734"/>
            </a:xfrm>
            <a:custGeom>
              <a:avLst/>
              <a:gdLst/>
              <a:ahLst/>
              <a:cxnLst/>
              <a:rect r="r" b="b" t="t" l="l"/>
              <a:pathLst>
                <a:path h="2054734" w="4038260">
                  <a:moveTo>
                    <a:pt x="8767" y="0"/>
                  </a:moveTo>
                  <a:lnTo>
                    <a:pt x="4029493" y="0"/>
                  </a:lnTo>
                  <a:cubicBezTo>
                    <a:pt x="4034335" y="0"/>
                    <a:pt x="4038260" y="3925"/>
                    <a:pt x="4038260" y="8767"/>
                  </a:cubicBezTo>
                  <a:lnTo>
                    <a:pt x="4038260" y="2045967"/>
                  </a:lnTo>
                  <a:cubicBezTo>
                    <a:pt x="4038260" y="2048292"/>
                    <a:pt x="4037337" y="2050522"/>
                    <a:pt x="4035692" y="2052166"/>
                  </a:cubicBezTo>
                  <a:cubicBezTo>
                    <a:pt x="4034048" y="2053810"/>
                    <a:pt x="4031819" y="2054734"/>
                    <a:pt x="4029493" y="2054734"/>
                  </a:cubicBezTo>
                  <a:lnTo>
                    <a:pt x="8767" y="2054734"/>
                  </a:lnTo>
                  <a:cubicBezTo>
                    <a:pt x="6442" y="2054734"/>
                    <a:pt x="4212" y="2053810"/>
                    <a:pt x="2568" y="2052166"/>
                  </a:cubicBezTo>
                  <a:cubicBezTo>
                    <a:pt x="924" y="2050522"/>
                    <a:pt x="0" y="2048292"/>
                    <a:pt x="0" y="2045967"/>
                  </a:cubicBezTo>
                  <a:lnTo>
                    <a:pt x="0" y="8767"/>
                  </a:lnTo>
                  <a:cubicBezTo>
                    <a:pt x="0" y="6442"/>
                    <a:pt x="924" y="4212"/>
                    <a:pt x="2568" y="2568"/>
                  </a:cubicBezTo>
                  <a:cubicBezTo>
                    <a:pt x="4212" y="924"/>
                    <a:pt x="6442" y="0"/>
                    <a:pt x="8767" y="0"/>
                  </a:cubicBezTo>
                  <a:close/>
                </a:path>
              </a:pathLst>
            </a:custGeom>
            <a:solidFill>
              <a:srgbClr val="FDFCF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38260" cy="2092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118216" y="1880583"/>
            <a:ext cx="12051569" cy="1725267"/>
            <a:chOff x="0" y="0"/>
            <a:chExt cx="3673973" cy="5259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73973" cy="525955"/>
            </a:xfrm>
            <a:custGeom>
              <a:avLst/>
              <a:gdLst/>
              <a:ahLst/>
              <a:cxnLst/>
              <a:rect r="r" b="b" t="t" l="l"/>
              <a:pathLst>
                <a:path h="525955" w="3673973">
                  <a:moveTo>
                    <a:pt x="9636" y="0"/>
                  </a:moveTo>
                  <a:lnTo>
                    <a:pt x="3664337" y="0"/>
                  </a:lnTo>
                  <a:cubicBezTo>
                    <a:pt x="3666893" y="0"/>
                    <a:pt x="3669343" y="1015"/>
                    <a:pt x="3671151" y="2822"/>
                  </a:cubicBezTo>
                  <a:cubicBezTo>
                    <a:pt x="3672958" y="4629"/>
                    <a:pt x="3673973" y="7080"/>
                    <a:pt x="3673973" y="9636"/>
                  </a:cubicBezTo>
                  <a:lnTo>
                    <a:pt x="3673973" y="516319"/>
                  </a:lnTo>
                  <a:cubicBezTo>
                    <a:pt x="3673973" y="518875"/>
                    <a:pt x="3672958" y="521326"/>
                    <a:pt x="3671151" y="523133"/>
                  </a:cubicBezTo>
                  <a:cubicBezTo>
                    <a:pt x="3669343" y="524940"/>
                    <a:pt x="3666893" y="525955"/>
                    <a:pt x="3664337" y="525955"/>
                  </a:cubicBezTo>
                  <a:lnTo>
                    <a:pt x="9636" y="525955"/>
                  </a:lnTo>
                  <a:cubicBezTo>
                    <a:pt x="4314" y="525955"/>
                    <a:pt x="0" y="521641"/>
                    <a:pt x="0" y="516319"/>
                  </a:cubicBezTo>
                  <a:lnTo>
                    <a:pt x="0" y="9636"/>
                  </a:lnTo>
                  <a:cubicBezTo>
                    <a:pt x="0" y="7080"/>
                    <a:pt x="1015" y="4629"/>
                    <a:pt x="2822" y="2822"/>
                  </a:cubicBezTo>
                  <a:cubicBezTo>
                    <a:pt x="4629" y="1015"/>
                    <a:pt x="7080" y="0"/>
                    <a:pt x="9636" y="0"/>
                  </a:cubicBezTo>
                  <a:close/>
                </a:path>
              </a:pathLst>
            </a:custGeom>
            <a:solidFill>
              <a:srgbClr val="DE4F8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73973" cy="564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5400000">
            <a:off x="-1209613" y="-1339518"/>
            <a:ext cx="5145312" cy="2315390"/>
          </a:xfrm>
          <a:custGeom>
            <a:avLst/>
            <a:gdLst/>
            <a:ahLst/>
            <a:cxnLst/>
            <a:rect r="r" b="b" t="t" l="l"/>
            <a:pathLst>
              <a:path h="2315390" w="5145312">
                <a:moveTo>
                  <a:pt x="0" y="0"/>
                </a:moveTo>
                <a:lnTo>
                  <a:pt x="5145312" y="0"/>
                </a:lnTo>
                <a:lnTo>
                  <a:pt x="5145312" y="2315390"/>
                </a:lnTo>
                <a:lnTo>
                  <a:pt x="0" y="23153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82157" y="2219340"/>
            <a:ext cx="9923686" cy="1209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FDFCF5"/>
                </a:solidFill>
                <a:latin typeface="HK Grotesk"/>
                <a:ea typeface="HK Grotesk"/>
                <a:cs typeface="HK Grotesk"/>
                <a:sym typeface="HK Grotesk"/>
              </a:rPr>
              <a:t>PRÓS</a:t>
            </a:r>
          </a:p>
        </p:txBody>
      </p:sp>
      <p:sp>
        <p:nvSpPr>
          <p:cNvPr name="Freeform 10" id="10"/>
          <p:cNvSpPr/>
          <p:nvPr/>
        </p:nvSpPr>
        <p:spPr>
          <a:xfrm flipH="true" flipV="true" rot="5400000">
            <a:off x="14892833" y="8788155"/>
            <a:ext cx="5145312" cy="2315390"/>
          </a:xfrm>
          <a:custGeom>
            <a:avLst/>
            <a:gdLst/>
            <a:ahLst/>
            <a:cxnLst/>
            <a:rect r="r" b="b" t="t" l="l"/>
            <a:pathLst>
              <a:path h="2315390" w="5145312">
                <a:moveTo>
                  <a:pt x="5145311" y="2315390"/>
                </a:moveTo>
                <a:lnTo>
                  <a:pt x="0" y="2315390"/>
                </a:lnTo>
                <a:lnTo>
                  <a:pt x="0" y="0"/>
                </a:lnTo>
                <a:lnTo>
                  <a:pt x="5145311" y="0"/>
                </a:lnTo>
                <a:lnTo>
                  <a:pt x="5145311" y="23153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919638" y="4064825"/>
            <a:ext cx="12448723" cy="617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O Mediator é bom porque ele organiza o código e o torna mais fácil de mexer.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Toda a comunicação entre os componentes fica em um só lugar (o Mediator). 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O Mediator garante que uma parte do código (como o campo Nome) não dependa diretamente de outra.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Reuso: Como as partes não dependem uma da outra, podemos pegar o componente de Estado Civil e usá-lo em qualquer outro formulário, sem precisar mudar nada nele.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Fácil de expandir o código: Se quisermos adicionar uma nova regra, basta criar um novo Mediator para cuidar disso, sem ter que mexer no código das partes antigas que já estão funcionando.</a:t>
            </a:r>
          </a:p>
          <a:p>
            <a:pPr algn="ctr">
              <a:lnSpc>
                <a:spcPts val="378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B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20738" y="3205799"/>
            <a:ext cx="13246524" cy="2630820"/>
            <a:chOff x="0" y="0"/>
            <a:chExt cx="4038260" cy="8020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38260" cy="802017"/>
            </a:xfrm>
            <a:custGeom>
              <a:avLst/>
              <a:gdLst/>
              <a:ahLst/>
              <a:cxnLst/>
              <a:rect r="r" b="b" t="t" l="l"/>
              <a:pathLst>
                <a:path h="802017" w="4038260">
                  <a:moveTo>
                    <a:pt x="8767" y="0"/>
                  </a:moveTo>
                  <a:lnTo>
                    <a:pt x="4029493" y="0"/>
                  </a:lnTo>
                  <a:cubicBezTo>
                    <a:pt x="4034335" y="0"/>
                    <a:pt x="4038260" y="3925"/>
                    <a:pt x="4038260" y="8767"/>
                  </a:cubicBezTo>
                  <a:lnTo>
                    <a:pt x="4038260" y="793250"/>
                  </a:lnTo>
                  <a:cubicBezTo>
                    <a:pt x="4038260" y="795575"/>
                    <a:pt x="4037337" y="797805"/>
                    <a:pt x="4035692" y="799449"/>
                  </a:cubicBezTo>
                  <a:cubicBezTo>
                    <a:pt x="4034048" y="801093"/>
                    <a:pt x="4031819" y="802017"/>
                    <a:pt x="4029493" y="802017"/>
                  </a:cubicBezTo>
                  <a:lnTo>
                    <a:pt x="8767" y="802017"/>
                  </a:lnTo>
                  <a:cubicBezTo>
                    <a:pt x="6442" y="802017"/>
                    <a:pt x="4212" y="801093"/>
                    <a:pt x="2568" y="799449"/>
                  </a:cubicBezTo>
                  <a:cubicBezTo>
                    <a:pt x="924" y="797805"/>
                    <a:pt x="0" y="795575"/>
                    <a:pt x="0" y="793250"/>
                  </a:cubicBezTo>
                  <a:lnTo>
                    <a:pt x="0" y="8767"/>
                  </a:lnTo>
                  <a:cubicBezTo>
                    <a:pt x="0" y="6442"/>
                    <a:pt x="924" y="4212"/>
                    <a:pt x="2568" y="2568"/>
                  </a:cubicBezTo>
                  <a:cubicBezTo>
                    <a:pt x="4212" y="924"/>
                    <a:pt x="6442" y="0"/>
                    <a:pt x="8767" y="0"/>
                  </a:cubicBezTo>
                  <a:close/>
                </a:path>
              </a:pathLst>
            </a:custGeom>
            <a:solidFill>
              <a:srgbClr val="FDFCF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38260" cy="840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118216" y="1880583"/>
            <a:ext cx="12051569" cy="1725267"/>
            <a:chOff x="0" y="0"/>
            <a:chExt cx="3673973" cy="5259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73973" cy="525955"/>
            </a:xfrm>
            <a:custGeom>
              <a:avLst/>
              <a:gdLst/>
              <a:ahLst/>
              <a:cxnLst/>
              <a:rect r="r" b="b" t="t" l="l"/>
              <a:pathLst>
                <a:path h="525955" w="3673973">
                  <a:moveTo>
                    <a:pt x="9636" y="0"/>
                  </a:moveTo>
                  <a:lnTo>
                    <a:pt x="3664337" y="0"/>
                  </a:lnTo>
                  <a:cubicBezTo>
                    <a:pt x="3666893" y="0"/>
                    <a:pt x="3669343" y="1015"/>
                    <a:pt x="3671151" y="2822"/>
                  </a:cubicBezTo>
                  <a:cubicBezTo>
                    <a:pt x="3672958" y="4629"/>
                    <a:pt x="3673973" y="7080"/>
                    <a:pt x="3673973" y="9636"/>
                  </a:cubicBezTo>
                  <a:lnTo>
                    <a:pt x="3673973" y="516319"/>
                  </a:lnTo>
                  <a:cubicBezTo>
                    <a:pt x="3673973" y="518875"/>
                    <a:pt x="3672958" y="521326"/>
                    <a:pt x="3671151" y="523133"/>
                  </a:cubicBezTo>
                  <a:cubicBezTo>
                    <a:pt x="3669343" y="524940"/>
                    <a:pt x="3666893" y="525955"/>
                    <a:pt x="3664337" y="525955"/>
                  </a:cubicBezTo>
                  <a:lnTo>
                    <a:pt x="9636" y="525955"/>
                  </a:lnTo>
                  <a:cubicBezTo>
                    <a:pt x="4314" y="525955"/>
                    <a:pt x="0" y="521641"/>
                    <a:pt x="0" y="516319"/>
                  </a:cubicBezTo>
                  <a:lnTo>
                    <a:pt x="0" y="9636"/>
                  </a:lnTo>
                  <a:cubicBezTo>
                    <a:pt x="0" y="7080"/>
                    <a:pt x="1015" y="4629"/>
                    <a:pt x="2822" y="2822"/>
                  </a:cubicBezTo>
                  <a:cubicBezTo>
                    <a:pt x="4629" y="1015"/>
                    <a:pt x="7080" y="0"/>
                    <a:pt x="9636" y="0"/>
                  </a:cubicBezTo>
                  <a:close/>
                </a:path>
              </a:pathLst>
            </a:custGeom>
            <a:solidFill>
              <a:srgbClr val="DE4F8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73973" cy="564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5400000">
            <a:off x="-1209613" y="-1339518"/>
            <a:ext cx="5145312" cy="2315390"/>
          </a:xfrm>
          <a:custGeom>
            <a:avLst/>
            <a:gdLst/>
            <a:ahLst/>
            <a:cxnLst/>
            <a:rect r="r" b="b" t="t" l="l"/>
            <a:pathLst>
              <a:path h="2315390" w="5145312">
                <a:moveTo>
                  <a:pt x="0" y="0"/>
                </a:moveTo>
                <a:lnTo>
                  <a:pt x="5145312" y="0"/>
                </a:lnTo>
                <a:lnTo>
                  <a:pt x="5145312" y="2315390"/>
                </a:lnTo>
                <a:lnTo>
                  <a:pt x="0" y="23153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82157" y="2219340"/>
            <a:ext cx="9923686" cy="1209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FDFCF5"/>
                </a:solidFill>
                <a:latin typeface="HK Grotesk"/>
                <a:ea typeface="HK Grotesk"/>
                <a:cs typeface="HK Grotesk"/>
                <a:sym typeface="HK Grotesk"/>
              </a:rPr>
              <a:t>CONTRA</a:t>
            </a:r>
          </a:p>
        </p:txBody>
      </p:sp>
      <p:sp>
        <p:nvSpPr>
          <p:cNvPr name="Freeform 10" id="10"/>
          <p:cNvSpPr/>
          <p:nvPr/>
        </p:nvSpPr>
        <p:spPr>
          <a:xfrm flipH="true" flipV="true" rot="5400000">
            <a:off x="14892833" y="8788155"/>
            <a:ext cx="5145312" cy="2315390"/>
          </a:xfrm>
          <a:custGeom>
            <a:avLst/>
            <a:gdLst/>
            <a:ahLst/>
            <a:cxnLst/>
            <a:rect r="r" b="b" t="t" l="l"/>
            <a:pathLst>
              <a:path h="2315390" w="5145312">
                <a:moveTo>
                  <a:pt x="5145311" y="2315390"/>
                </a:moveTo>
                <a:lnTo>
                  <a:pt x="0" y="2315390"/>
                </a:lnTo>
                <a:lnTo>
                  <a:pt x="0" y="0"/>
                </a:lnTo>
                <a:lnTo>
                  <a:pt x="5145311" y="0"/>
                </a:lnTo>
                <a:lnTo>
                  <a:pt x="5145311" y="23153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919638" y="4064825"/>
            <a:ext cx="12448723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O Mediator pode acabar ficand</a:t>
            </a:r>
            <a:r>
              <a:rPr lang="en-US" sz="27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o com muita responsabili</a:t>
            </a:r>
            <a:r>
              <a:rPr lang="en-US" sz="27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dade e lógica de negócio. Com o tempo, ele pode se tornar uma classe gigante e confusa, que faz tudo no sistema.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B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20738" y="3205799"/>
            <a:ext cx="13246524" cy="3705096"/>
            <a:chOff x="0" y="0"/>
            <a:chExt cx="4038260" cy="11295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38260" cy="1129515"/>
            </a:xfrm>
            <a:custGeom>
              <a:avLst/>
              <a:gdLst/>
              <a:ahLst/>
              <a:cxnLst/>
              <a:rect r="r" b="b" t="t" l="l"/>
              <a:pathLst>
                <a:path h="1129515" w="4038260">
                  <a:moveTo>
                    <a:pt x="8767" y="0"/>
                  </a:moveTo>
                  <a:lnTo>
                    <a:pt x="4029493" y="0"/>
                  </a:lnTo>
                  <a:cubicBezTo>
                    <a:pt x="4034335" y="0"/>
                    <a:pt x="4038260" y="3925"/>
                    <a:pt x="4038260" y="8767"/>
                  </a:cubicBezTo>
                  <a:lnTo>
                    <a:pt x="4038260" y="1120748"/>
                  </a:lnTo>
                  <a:cubicBezTo>
                    <a:pt x="4038260" y="1123073"/>
                    <a:pt x="4037337" y="1125303"/>
                    <a:pt x="4035692" y="1126947"/>
                  </a:cubicBezTo>
                  <a:cubicBezTo>
                    <a:pt x="4034048" y="1128591"/>
                    <a:pt x="4031819" y="1129515"/>
                    <a:pt x="4029493" y="1129515"/>
                  </a:cubicBezTo>
                  <a:lnTo>
                    <a:pt x="8767" y="1129515"/>
                  </a:lnTo>
                  <a:cubicBezTo>
                    <a:pt x="6442" y="1129515"/>
                    <a:pt x="4212" y="1128591"/>
                    <a:pt x="2568" y="1126947"/>
                  </a:cubicBezTo>
                  <a:cubicBezTo>
                    <a:pt x="924" y="1125303"/>
                    <a:pt x="0" y="1123073"/>
                    <a:pt x="0" y="1120748"/>
                  </a:cubicBezTo>
                  <a:lnTo>
                    <a:pt x="0" y="8767"/>
                  </a:lnTo>
                  <a:cubicBezTo>
                    <a:pt x="0" y="6442"/>
                    <a:pt x="924" y="4212"/>
                    <a:pt x="2568" y="2568"/>
                  </a:cubicBezTo>
                  <a:cubicBezTo>
                    <a:pt x="4212" y="924"/>
                    <a:pt x="6442" y="0"/>
                    <a:pt x="8767" y="0"/>
                  </a:cubicBezTo>
                  <a:close/>
                </a:path>
              </a:pathLst>
            </a:custGeom>
            <a:solidFill>
              <a:srgbClr val="FDFCF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38260" cy="1167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118216" y="1880583"/>
            <a:ext cx="12051569" cy="1725267"/>
            <a:chOff x="0" y="0"/>
            <a:chExt cx="3673973" cy="5259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73973" cy="525955"/>
            </a:xfrm>
            <a:custGeom>
              <a:avLst/>
              <a:gdLst/>
              <a:ahLst/>
              <a:cxnLst/>
              <a:rect r="r" b="b" t="t" l="l"/>
              <a:pathLst>
                <a:path h="525955" w="3673973">
                  <a:moveTo>
                    <a:pt x="9636" y="0"/>
                  </a:moveTo>
                  <a:lnTo>
                    <a:pt x="3664337" y="0"/>
                  </a:lnTo>
                  <a:cubicBezTo>
                    <a:pt x="3666893" y="0"/>
                    <a:pt x="3669343" y="1015"/>
                    <a:pt x="3671151" y="2822"/>
                  </a:cubicBezTo>
                  <a:cubicBezTo>
                    <a:pt x="3672958" y="4629"/>
                    <a:pt x="3673973" y="7080"/>
                    <a:pt x="3673973" y="9636"/>
                  </a:cubicBezTo>
                  <a:lnTo>
                    <a:pt x="3673973" y="516319"/>
                  </a:lnTo>
                  <a:cubicBezTo>
                    <a:pt x="3673973" y="518875"/>
                    <a:pt x="3672958" y="521326"/>
                    <a:pt x="3671151" y="523133"/>
                  </a:cubicBezTo>
                  <a:cubicBezTo>
                    <a:pt x="3669343" y="524940"/>
                    <a:pt x="3666893" y="525955"/>
                    <a:pt x="3664337" y="525955"/>
                  </a:cubicBezTo>
                  <a:lnTo>
                    <a:pt x="9636" y="525955"/>
                  </a:lnTo>
                  <a:cubicBezTo>
                    <a:pt x="4314" y="525955"/>
                    <a:pt x="0" y="521641"/>
                    <a:pt x="0" y="516319"/>
                  </a:cubicBezTo>
                  <a:lnTo>
                    <a:pt x="0" y="9636"/>
                  </a:lnTo>
                  <a:cubicBezTo>
                    <a:pt x="0" y="7080"/>
                    <a:pt x="1015" y="4629"/>
                    <a:pt x="2822" y="2822"/>
                  </a:cubicBezTo>
                  <a:cubicBezTo>
                    <a:pt x="4629" y="1015"/>
                    <a:pt x="7080" y="0"/>
                    <a:pt x="9636" y="0"/>
                  </a:cubicBezTo>
                  <a:close/>
                </a:path>
              </a:pathLst>
            </a:custGeom>
            <a:solidFill>
              <a:srgbClr val="DE4F8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73973" cy="564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5400000">
            <a:off x="-1209613" y="-1339518"/>
            <a:ext cx="5145312" cy="2315390"/>
          </a:xfrm>
          <a:custGeom>
            <a:avLst/>
            <a:gdLst/>
            <a:ahLst/>
            <a:cxnLst/>
            <a:rect r="r" b="b" t="t" l="l"/>
            <a:pathLst>
              <a:path h="2315390" w="5145312">
                <a:moveTo>
                  <a:pt x="0" y="0"/>
                </a:moveTo>
                <a:lnTo>
                  <a:pt x="5145312" y="0"/>
                </a:lnTo>
                <a:lnTo>
                  <a:pt x="5145312" y="2315390"/>
                </a:lnTo>
                <a:lnTo>
                  <a:pt x="0" y="23153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82157" y="2219340"/>
            <a:ext cx="9923686" cy="1209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FDFCF5"/>
                </a:solidFill>
                <a:latin typeface="HK Grotesk"/>
                <a:ea typeface="HK Grotesk"/>
                <a:cs typeface="HK Grotesk"/>
                <a:sym typeface="HK Grotesk"/>
              </a:rPr>
              <a:t>CONCLUSÃO</a:t>
            </a:r>
          </a:p>
        </p:txBody>
      </p:sp>
      <p:sp>
        <p:nvSpPr>
          <p:cNvPr name="Freeform 10" id="10"/>
          <p:cNvSpPr/>
          <p:nvPr/>
        </p:nvSpPr>
        <p:spPr>
          <a:xfrm flipH="true" flipV="true" rot="5400000">
            <a:off x="14892833" y="8788155"/>
            <a:ext cx="5145312" cy="2315390"/>
          </a:xfrm>
          <a:custGeom>
            <a:avLst/>
            <a:gdLst/>
            <a:ahLst/>
            <a:cxnLst/>
            <a:rect r="r" b="b" t="t" l="l"/>
            <a:pathLst>
              <a:path h="2315390" w="5145312">
                <a:moveTo>
                  <a:pt x="5145311" y="2315390"/>
                </a:moveTo>
                <a:lnTo>
                  <a:pt x="0" y="2315390"/>
                </a:lnTo>
                <a:lnTo>
                  <a:pt x="0" y="0"/>
                </a:lnTo>
                <a:lnTo>
                  <a:pt x="5145311" y="0"/>
                </a:lnTo>
                <a:lnTo>
                  <a:pt x="5145311" y="23153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919638" y="4064825"/>
            <a:ext cx="12448723" cy="33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O padrão Mediator é essencial porque ele acaba com a bagunça no código.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Ele pega</a:t>
            </a:r>
            <a:r>
              <a:rPr lang="en-US" sz="27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 um sistema onde todo mundo </a:t>
            </a:r>
            <a:r>
              <a:rPr lang="en-US" sz="27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depende de todo mundo (acoplamento excessivo) e transforma isso em algo organizado. O Mediator não só arruma a comunicação, como também transforma um código vulnerável a erros em um sistema mais fácil de dar manutenção e de expandir.</a:t>
            </a:r>
          </a:p>
          <a:p>
            <a:pPr algn="ctr">
              <a:lnSpc>
                <a:spcPts val="378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DAG5F1rG3pQ</dc:identifier>
  <dcterms:modified xsi:type="dcterms:W3CDTF">2011-08-01T06:04:30Z</dcterms:modified>
  <cp:revision>1</cp:revision>
  <dc:title>Padrões de Projeto</dc:title>
</cp:coreProperties>
</file>